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43-42BE-8B04-C91979E5C3FA}"/>
              </c:ext>
            </c:extLst>
          </c:dPt>
          <c:dPt>
            <c:idx val="1"/>
            <c:invertIfNegative val="0"/>
            <c:bubble3D val="0"/>
            <c:spPr>
              <a:solidFill>
                <a:srgbClr val="00FF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43-42BE-8B04-C91979E5C3FA}"/>
              </c:ext>
            </c:extLst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43-42BE-8B04-C91979E5C3FA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43-42BE-8B04-C91979E5C3FA}"/>
              </c:ext>
            </c:extLst>
          </c:dPt>
          <c:dPt>
            <c:idx val="4"/>
            <c:invertIfNegative val="0"/>
            <c:bubble3D val="0"/>
            <c:spPr>
              <a:solidFill>
                <a:srgbClr val="C77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F43-42BE-8B04-C91979E5C3FA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F43-42BE-8B04-C91979E5C3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Orthopedics</c:v>
                </c:pt>
                <c:pt idx="1">
                  <c:v>General Med</c:v>
                </c:pt>
                <c:pt idx="2">
                  <c:v>Pediatrics</c:v>
                </c:pt>
                <c:pt idx="3">
                  <c:v>Cardiology</c:v>
                </c:pt>
                <c:pt idx="4">
                  <c:v>Neurology</c:v>
                </c:pt>
                <c:pt idx="5">
                  <c:v>Oncology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42</c:v>
                </c:pt>
                <c:pt idx="2">
                  <c:v>41</c:v>
                </c:pt>
                <c:pt idx="3">
                  <c:v>35</c:v>
                </c:pt>
                <c:pt idx="4">
                  <c:v>33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F43-42BE-8B04-C91979E5C3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A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A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A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92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ln w="38100" cap="flat">
              <a:solidFill>
                <a:srgbClr val="00C8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FF"/>
              </a:solidFill>
              <a:ln w="9525" cap="flat">
                <a:solidFill>
                  <a:srgbClr val="00C8F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19</c:v>
                </c:pt>
                <c:pt idx="2">
                  <c:v>15</c:v>
                </c:pt>
                <c:pt idx="3">
                  <c:v>18</c:v>
                </c:pt>
                <c:pt idx="4">
                  <c:v>22</c:v>
                </c:pt>
                <c:pt idx="5">
                  <c:v>14</c:v>
                </c:pt>
                <c:pt idx="6">
                  <c:v>17</c:v>
                </c:pt>
                <c:pt idx="7">
                  <c:v>11</c:v>
                </c:pt>
                <c:pt idx="8">
                  <c:v>9</c:v>
                </c:pt>
                <c:pt idx="9">
                  <c:v>20</c:v>
                </c:pt>
                <c:pt idx="10">
                  <c:v>16</c:v>
                </c:pt>
                <c:pt idx="11">
                  <c:v>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3CE-4861-A9D0-ACCB0ED2F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A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A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A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92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FF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FF-41D9-BE6C-567A780672E2}"/>
              </c:ext>
            </c:extLst>
          </c:dPt>
          <c:dPt>
            <c:idx val="1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FF-41D9-BE6C-567A780672E2}"/>
              </c:ext>
            </c:extLst>
          </c:dPt>
          <c:dPt>
            <c:idx val="2"/>
            <c:bubble3D val="0"/>
            <c:spPr>
              <a:solidFill>
                <a:srgbClr val="00C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FF-41D9-BE6C-567A780672E2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FF-41D9-BE6C-567A780672E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0F4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FF-41D9-BE6C-567A780672E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0F4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FF-41D9-BE6C-567A780672E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0F4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1FF-41D9-BE6C-567A780672E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0F4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1FF-41D9-BE6C-567A780672E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Recovered</c:v>
                </c:pt>
                <c:pt idx="1">
                  <c:v>Under Treatment</c:v>
                </c:pt>
                <c:pt idx="2">
                  <c:v>Readmitted</c:v>
                </c:pt>
                <c:pt idx="3">
                  <c:v>Deceased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63.5</c:v>
                </c:pt>
                <c:pt idx="1">
                  <c:v>20</c:v>
                </c:pt>
                <c:pt idx="2">
                  <c:v>13</c:v>
                </c:pt>
                <c:pt idx="3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FF-41D9-BE6C-567A780672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solidFill>
          <a:srgbClr val="0A192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FA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Cost ($K)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B62-45F2-8587-A76A8ECA1D74}"/>
              </c:ext>
            </c:extLst>
          </c:dPt>
          <c:dPt>
            <c:idx val="1"/>
            <c:invertIfNegative val="0"/>
            <c:bubble3D val="0"/>
            <c:spPr>
              <a:solidFill>
                <a:srgbClr val="3B9E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62-45F2-8587-A76A8ECA1D74}"/>
              </c:ext>
            </c:extLst>
          </c:dPt>
          <c:dPt>
            <c:idx val="2"/>
            <c:invertIfNegative val="0"/>
            <c:bubble3D val="0"/>
            <c:spPr>
              <a:solidFill>
                <a:srgbClr val="00FF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62-45F2-8587-A76A8ECA1D74}"/>
              </c:ext>
            </c:extLst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B62-45F2-8587-A76A8ECA1D74}"/>
              </c:ext>
            </c:extLst>
          </c:dPt>
          <c:dPt>
            <c:idx val="4"/>
            <c:invertIfNegative val="0"/>
            <c:bubble3D val="0"/>
            <c:spPr>
              <a:solidFill>
                <a:srgbClr val="00C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B62-45F2-8587-A76A8ECA1D74}"/>
              </c:ext>
            </c:extLst>
          </c:dPt>
          <c:dLbls>
            <c:numFmt formatCode="\$#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Teen</c:v>
                </c:pt>
                <c:pt idx="1">
                  <c:v>Child</c:v>
                </c:pt>
                <c:pt idx="2">
                  <c:v>Senior</c:v>
                </c:pt>
                <c:pt idx="3">
                  <c:v>Middle Age</c:v>
                </c:pt>
                <c:pt idx="4">
                  <c:v>Adult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B62-45F2-8587-A76A8ECA1D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A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0A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A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92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449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-432462" y="47548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-731520"/>
            <a:ext cx="3657600" cy="3657600"/>
          </a:xfrm>
          <a:prstGeom prst="ellipse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-365760"/>
            <a:ext cx="2560320" cy="2560320"/>
          </a:xfrm>
          <a:prstGeom prst="ellipse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3856" y="1097280"/>
            <a:ext cx="6949440" cy="3017520"/>
          </a:xfrm>
          <a:prstGeom prst="rect">
            <a:avLst/>
          </a:prstGeom>
          <a:solidFill>
            <a:srgbClr val="0A1929">
              <a:alpha val="85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3" name="Shape 41"/>
          <p:cNvSpPr/>
          <p:nvPr/>
        </p:nvSpPr>
        <p:spPr>
          <a:xfrm>
            <a:off x="1097280" y="1097280"/>
            <a:ext cx="69494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0" y="1600200"/>
            <a:ext cx="164592" cy="457200"/>
          </a:xfrm>
          <a:prstGeom prst="rect">
            <a:avLst/>
          </a:prstGeom>
          <a:solidFill>
            <a:srgbClr val="00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19072" y="1719072"/>
            <a:ext cx="384048" cy="164592"/>
          </a:xfrm>
          <a:prstGeom prst="rect">
            <a:avLst/>
          </a:prstGeom>
          <a:solidFill>
            <a:srgbClr val="00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</a:t>
            </a:r>
            <a:endParaRPr lang="en-US" sz="4000" dirty="0"/>
          </a:p>
        </p:txBody>
      </p:sp>
      <p:sp>
        <p:nvSpPr>
          <p:cNvPr id="47" name="Text 45"/>
          <p:cNvSpPr/>
          <p:nvPr/>
        </p:nvSpPr>
        <p:spPr>
          <a:xfrm>
            <a:off x="2286000" y="22402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228600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  ·  Patient Analytics  ·  Clinical Insights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286000" y="3246120"/>
            <a:ext cx="4572000" cy="0"/>
          </a:xfrm>
          <a:prstGeom prst="line">
            <a:avLst/>
          </a:prstGeom>
          <a:noFill/>
          <a:ln w="635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21792"/>
            <a:ext cx="9144000" cy="2743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0" y="91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Hospital_Task  ·  200 Patients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2880" y="868680"/>
            <a:ext cx="2103120" cy="402336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82880" y="868680"/>
            <a:ext cx="210312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914400"/>
            <a:ext cx="1097280" cy="109728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1417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2743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7432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3337560"/>
            <a:ext cx="1554480" cy="0"/>
          </a:xfrm>
          <a:prstGeom prst="line">
            <a:avLst/>
          </a:prstGeom>
          <a:noFill/>
          <a:ln w="635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114800"/>
            <a:ext cx="256032" cy="457200"/>
          </a:xfrm>
          <a:prstGeom prst="rect">
            <a:avLst/>
          </a:prstGeom>
          <a:solidFill>
            <a:srgbClr val="00C8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" y="3840480"/>
            <a:ext cx="256032" cy="731520"/>
          </a:xfrm>
          <a:prstGeom prst="rect">
            <a:avLst/>
          </a:prstGeom>
          <a:solidFill>
            <a:srgbClr val="00C8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71600" y="3977640"/>
            <a:ext cx="256032" cy="594360"/>
          </a:xfrm>
          <a:prstGeom prst="rect">
            <a:avLst/>
          </a:prstGeom>
          <a:solidFill>
            <a:srgbClr val="00C8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68880" y="868680"/>
            <a:ext cx="2103120" cy="4023360"/>
          </a:xfrm>
          <a:prstGeom prst="rect">
            <a:avLst/>
          </a:prstGeom>
          <a:solidFill>
            <a:srgbClr val="0A1929"/>
          </a:solidFill>
          <a:ln w="12700">
            <a:solidFill>
              <a:srgbClr val="00FF88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468880" y="868680"/>
            <a:ext cx="21031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17520" y="914400"/>
            <a:ext cx="1097280" cy="1097280"/>
          </a:xfrm>
          <a:prstGeom prst="ellipse">
            <a:avLst/>
          </a:prstGeom>
          <a:solidFill>
            <a:srgbClr val="00FF8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8.07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25603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Stay (Days)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256032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-0.3 vs last month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0" y="3337560"/>
            <a:ext cx="1554480" cy="0"/>
          </a:xfrm>
          <a:prstGeom prst="line">
            <a:avLst/>
          </a:prstGeom>
          <a:noFill/>
          <a:ln w="635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34640" y="4114800"/>
            <a:ext cx="256032" cy="457200"/>
          </a:xfrm>
          <a:prstGeom prst="rect">
            <a:avLst/>
          </a:prstGeom>
          <a:solidFill>
            <a:srgbClr val="00FF88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46120" y="3840480"/>
            <a:ext cx="256032" cy="731520"/>
          </a:xfrm>
          <a:prstGeom prst="rect">
            <a:avLst/>
          </a:prstGeom>
          <a:solidFill>
            <a:srgbClr val="00FF88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0" y="3977640"/>
            <a:ext cx="256032" cy="594360"/>
          </a:xfrm>
          <a:prstGeom prst="rect">
            <a:avLst/>
          </a:prstGeom>
          <a:solidFill>
            <a:srgbClr val="00FF88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868680"/>
            <a:ext cx="2103120" cy="4023360"/>
          </a:xfrm>
          <a:prstGeom prst="rect">
            <a:avLst/>
          </a:prstGeom>
          <a:solidFill>
            <a:srgbClr val="0A1929"/>
          </a:solidFill>
          <a:ln w="12700">
            <a:solidFill>
              <a:srgbClr val="FF6B6B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54880" y="868680"/>
            <a:ext cx="21031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03520" y="914400"/>
            <a:ext cx="1097280" cy="1097280"/>
          </a:xfrm>
          <a:prstGeom prst="ellipse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1417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3.50%</a:t>
            </a:r>
            <a:endParaRPr lang="en-US" sz="3600" dirty="0"/>
          </a:p>
        </p:txBody>
      </p:sp>
      <p:sp>
        <p:nvSpPr>
          <p:cNvPr id="67" name="Text 65"/>
          <p:cNvSpPr/>
          <p:nvPr/>
        </p:nvSpPr>
        <p:spPr>
          <a:xfrm>
            <a:off x="48463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84632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-0.2% improvement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029200" y="3337560"/>
            <a:ext cx="1554480" cy="0"/>
          </a:xfrm>
          <a:prstGeom prst="line">
            <a:avLst/>
          </a:prstGeom>
          <a:noFill/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20640" y="4114800"/>
            <a:ext cx="256032" cy="457200"/>
          </a:xfrm>
          <a:prstGeom prst="rect">
            <a:avLst/>
          </a:prstGeom>
          <a:solidFill>
            <a:srgbClr val="FF6B6B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32120" y="3840480"/>
            <a:ext cx="256032" cy="731520"/>
          </a:xfrm>
          <a:prstGeom prst="rect">
            <a:avLst/>
          </a:prstGeom>
          <a:solidFill>
            <a:srgbClr val="FF6B6B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0" y="3977640"/>
            <a:ext cx="256032" cy="594360"/>
          </a:xfrm>
          <a:prstGeom prst="rect">
            <a:avLst/>
          </a:prstGeom>
          <a:solidFill>
            <a:srgbClr val="FF6B6B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040880" y="868680"/>
            <a:ext cx="2103120" cy="4023360"/>
          </a:xfrm>
          <a:prstGeom prst="rect">
            <a:avLst/>
          </a:prstGeom>
          <a:solidFill>
            <a:srgbClr val="0A1929"/>
          </a:solidFill>
          <a:ln w="12700">
            <a:solidFill>
              <a:srgbClr val="FFD166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040880" y="868680"/>
            <a:ext cx="210312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89520" y="914400"/>
            <a:ext cx="1097280" cy="1097280"/>
          </a:xfrm>
          <a:prstGeom prst="ellipse">
            <a:avLst/>
          </a:prstGeom>
          <a:solidFill>
            <a:srgbClr val="FFD166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32320" y="1417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13.00%</a:t>
            </a:r>
            <a:endParaRPr lang="en-US" sz="3600" dirty="0"/>
          </a:p>
        </p:txBody>
      </p:sp>
      <p:sp>
        <p:nvSpPr>
          <p:cNvPr id="77" name="Text 75"/>
          <p:cNvSpPr/>
          <p:nvPr/>
        </p:nvSpPr>
        <p:spPr>
          <a:xfrm>
            <a:off x="71323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713232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Stable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315200" y="3337560"/>
            <a:ext cx="1554480" cy="0"/>
          </a:xfrm>
          <a:prstGeom prst="line">
            <a:avLst/>
          </a:prstGeom>
          <a:noFill/>
          <a:ln w="6350">
            <a:solidFill>
              <a:srgbClr val="FFD166">
                <a:alpha val="3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06640" y="4114800"/>
            <a:ext cx="256032" cy="457200"/>
          </a:xfrm>
          <a:prstGeom prst="rect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18120" y="3840480"/>
            <a:ext cx="256032" cy="731520"/>
          </a:xfrm>
          <a:prstGeom prst="rect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29600" y="3977640"/>
            <a:ext cx="256032" cy="594360"/>
          </a:xfrm>
          <a:prstGeom prst="rect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1792"/>
            <a:ext cx="9144000" cy="2743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PATIENT DISTRIBUTION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" y="777240"/>
            <a:ext cx="530352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2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graphicFrame>
        <p:nvGraphicFramePr>
          <p:cNvPr id="19" name="Chart 0"/>
          <p:cNvGraphicFramePr/>
          <p:nvPr/>
        </p:nvGraphicFramePr>
        <p:xfrm>
          <a:off x="274320" y="91440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760720" y="777240"/>
            <a:ext cx="320040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2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852160" y="868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DEPARTMENT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06440" y="1261872"/>
            <a:ext cx="3108960" cy="502920"/>
          </a:xfrm>
          <a:prstGeom prst="rect">
            <a:avLst/>
          </a:prstGeom>
          <a:solidFill>
            <a:srgbClr val="0D2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97880" y="1426464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0" y="1307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138160" y="13075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97880" y="1682496"/>
            <a:ext cx="2926080" cy="45720"/>
          </a:xfrm>
          <a:prstGeom prst="rect">
            <a:avLst/>
          </a:prstGeom>
          <a:solidFill>
            <a:srgbClr val="12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97880" y="1682496"/>
            <a:ext cx="2926080" cy="45720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06440" y="1847088"/>
            <a:ext cx="3108960" cy="502920"/>
          </a:xfrm>
          <a:prstGeom prst="rect">
            <a:avLst/>
          </a:prstGeom>
          <a:solidFill>
            <a:srgbClr val="0D20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97880" y="2011680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1892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7240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138160" y="18928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97880" y="2267712"/>
            <a:ext cx="2926080" cy="45720"/>
          </a:xfrm>
          <a:prstGeom prst="rect">
            <a:avLst/>
          </a:prstGeom>
          <a:solidFill>
            <a:srgbClr val="12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97880" y="2267712"/>
            <a:ext cx="2560320" cy="45720"/>
          </a:xfrm>
          <a:prstGeom prst="rect">
            <a:avLst/>
          </a:prstGeom>
          <a:solidFill>
            <a:srgbClr val="00FF88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06440" y="2432304"/>
            <a:ext cx="3108960" cy="502920"/>
          </a:xfrm>
          <a:prstGeom prst="rect">
            <a:avLst/>
          </a:prstGeom>
          <a:solidFill>
            <a:srgbClr val="0D2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97880" y="2596896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26480" y="24780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772400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138160" y="24780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897880" y="2852928"/>
            <a:ext cx="2926080" cy="45720"/>
          </a:xfrm>
          <a:prstGeom prst="rect">
            <a:avLst/>
          </a:prstGeom>
          <a:solidFill>
            <a:srgbClr val="12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897880" y="2852928"/>
            <a:ext cx="2499360" cy="45720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806440" y="3017520"/>
            <a:ext cx="3108960" cy="502920"/>
          </a:xfrm>
          <a:prstGeom prst="rect">
            <a:avLst/>
          </a:prstGeom>
          <a:solidFill>
            <a:srgbClr val="0D20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897880" y="3182112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26480" y="3063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7724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8138160" y="3063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897880" y="3438144"/>
            <a:ext cx="2926080" cy="45720"/>
          </a:xfrm>
          <a:prstGeom prst="rect">
            <a:avLst/>
          </a:prstGeom>
          <a:solidFill>
            <a:srgbClr val="12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97880" y="3438144"/>
            <a:ext cx="2133600" cy="4572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806440" y="3602736"/>
            <a:ext cx="3108960" cy="502920"/>
          </a:xfrm>
          <a:prstGeom prst="rect">
            <a:avLst/>
          </a:prstGeom>
          <a:solidFill>
            <a:srgbClr val="0D2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97880" y="3767328"/>
            <a:ext cx="164592" cy="164592"/>
          </a:xfrm>
          <a:prstGeom prst="ellipse">
            <a:avLst/>
          </a:prstGeom>
          <a:solidFill>
            <a:srgbClr val="C77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126480" y="36484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777240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8138160" y="36484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897880" y="4023360"/>
            <a:ext cx="2926080" cy="45720"/>
          </a:xfrm>
          <a:prstGeom prst="rect">
            <a:avLst/>
          </a:prstGeom>
          <a:solidFill>
            <a:srgbClr val="12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897880" y="4023360"/>
            <a:ext cx="2011680" cy="45720"/>
          </a:xfrm>
          <a:prstGeom prst="rect">
            <a:avLst/>
          </a:prstGeom>
          <a:solidFill>
            <a:srgbClr val="C77D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806440" y="4187952"/>
            <a:ext cx="3108960" cy="502920"/>
          </a:xfrm>
          <a:prstGeom prst="rect">
            <a:avLst/>
          </a:prstGeom>
          <a:solidFill>
            <a:srgbClr val="0D20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897880" y="435254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126480" y="4233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77240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8138160" y="42336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897880" y="4608576"/>
            <a:ext cx="2926080" cy="45720"/>
          </a:xfrm>
          <a:prstGeom prst="rect">
            <a:avLst/>
          </a:prstGeom>
          <a:solidFill>
            <a:srgbClr val="12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897880" y="4608576"/>
            <a:ext cx="1463040" cy="4572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1792"/>
            <a:ext cx="9144000" cy="2743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  ·  TOP 5 DIAGNOSES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" y="777240"/>
            <a:ext cx="530352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2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COUNT BY MONTH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114300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760720" y="777240"/>
            <a:ext cx="320040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2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52160" y="868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DIAGNOSES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06440" y="1280160"/>
            <a:ext cx="3108960" cy="603504"/>
          </a:xfrm>
          <a:prstGeom prst="rect">
            <a:avLst/>
          </a:prstGeom>
          <a:solidFill>
            <a:srgbClr val="00C8FF">
              <a:alpha val="12000"/>
            </a:srgbClr>
          </a:solidFill>
          <a:ln w="635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70448" y="1371600"/>
            <a:ext cx="320040" cy="320040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6364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63640" y="1609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cases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321040" y="1417320"/>
            <a:ext cx="73152" cy="2286000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06440" y="1975104"/>
            <a:ext cx="3108960" cy="603504"/>
          </a:xfrm>
          <a:prstGeom prst="rect">
            <a:avLst/>
          </a:prstGeom>
          <a:solidFill>
            <a:srgbClr val="00FF88">
              <a:alpha val="12000"/>
            </a:srgbClr>
          </a:solidFill>
          <a:ln w="635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70448" y="2066544"/>
            <a:ext cx="320040" cy="320040"/>
          </a:xfrm>
          <a:prstGeom prst="ellipse">
            <a:avLst/>
          </a:prstGeom>
          <a:solidFill>
            <a:srgbClr val="00FF8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70448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263640" y="20208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263640" y="23042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cases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321040" y="2112264"/>
            <a:ext cx="73152" cy="1930400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06440" y="2670048"/>
            <a:ext cx="3108960" cy="603504"/>
          </a:xfrm>
          <a:prstGeom prst="rect">
            <a:avLst/>
          </a:prstGeom>
          <a:solidFill>
            <a:srgbClr val="FFD166">
              <a:alpha val="12000"/>
            </a:srgbClr>
          </a:solidFill>
          <a:ln w="635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70448" y="2761488"/>
            <a:ext cx="320040" cy="320040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70448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263640" y="2715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263640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cases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321040" y="2807208"/>
            <a:ext cx="73152" cy="152400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06440" y="3364992"/>
            <a:ext cx="3108960" cy="603504"/>
          </a:xfrm>
          <a:prstGeom prst="rect">
            <a:avLst/>
          </a:prstGeom>
          <a:solidFill>
            <a:srgbClr val="FF6B6B">
              <a:alpha val="12000"/>
            </a:srgbClr>
          </a:solidFill>
          <a:ln w="635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870448" y="3456432"/>
            <a:ext cx="320040" cy="320040"/>
          </a:xfrm>
          <a:prstGeom prst="ellipse">
            <a:avLst/>
          </a:prstGeom>
          <a:solidFill>
            <a:srgbClr val="FF6B6B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70448" y="3456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263640" y="3410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263640" y="36941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cases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321040" y="3502152"/>
            <a:ext cx="73152" cy="142240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06440" y="4059936"/>
            <a:ext cx="3108960" cy="603504"/>
          </a:xfrm>
          <a:prstGeom prst="rect">
            <a:avLst/>
          </a:prstGeom>
          <a:solidFill>
            <a:srgbClr val="C77DFF">
              <a:alpha val="12000"/>
            </a:srgbClr>
          </a:solidFill>
          <a:ln w="6350">
            <a:solidFill>
              <a:srgbClr val="C77DFF">
                <a:alpha val="40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70448" y="4151376"/>
            <a:ext cx="320040" cy="320040"/>
          </a:xfrm>
          <a:prstGeom prst="ellipse">
            <a:avLst/>
          </a:prstGeom>
          <a:solidFill>
            <a:srgbClr val="C77D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70448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263640" y="4105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26364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cases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321040" y="4197096"/>
            <a:ext cx="73152" cy="1219200"/>
          </a:xfrm>
          <a:prstGeom prst="rect">
            <a:avLst/>
          </a:prstGeom>
          <a:solidFill>
            <a:srgbClr val="C77D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1792"/>
            <a:ext cx="9144000" cy="27432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OUTCOMES  ·  TREATMENT COST BY 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" y="777240"/>
            <a:ext cx="411480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2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BREAKDOWN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109728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4572000" y="777240"/>
            <a:ext cx="438912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2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5488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TREATMENT COST BY AGE GROUP</a:t>
            </a:r>
            <a:endParaRPr lang="en-US" sz="9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4663440" y="109728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1792"/>
            <a:ext cx="9144000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INSIGHTS  ·  KEY FINDINGS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" y="822960"/>
            <a:ext cx="2834640" cy="1920240"/>
          </a:xfrm>
          <a:prstGeom prst="rect">
            <a:avLst/>
          </a:prstGeom>
          <a:solidFill>
            <a:srgbClr val="0A1929"/>
          </a:solidFill>
          <a:ln w="12700">
            <a:solidFill>
              <a:srgbClr val="00FF88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822960"/>
            <a:ext cx="64008" cy="1920240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960120"/>
            <a:ext cx="411480" cy="411480"/>
          </a:xfrm>
          <a:prstGeom prst="ellipse">
            <a:avLst/>
          </a:prstGeom>
          <a:solidFill>
            <a:srgbClr val="00FF88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987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Recovery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" y="146304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63.5% of patients fully recovered — above national benchmark of 58%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822960"/>
            <a:ext cx="2834640" cy="192024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822960"/>
            <a:ext cx="64008" cy="1920240"/>
          </a:xfrm>
          <a:prstGeom prst="rect">
            <a:avLst/>
          </a:prstGeom>
          <a:solidFill>
            <a:srgbClr val="00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0712" y="960120"/>
            <a:ext cx="411480" cy="411480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04488" y="987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 Leads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10712" y="146304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 handles 24% of all admissions, highest of 6 departments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91072" y="822960"/>
            <a:ext cx="2834640" cy="1920240"/>
          </a:xfrm>
          <a:prstGeom prst="rect">
            <a:avLst/>
          </a:prstGeom>
          <a:solidFill>
            <a:srgbClr val="0A1929"/>
          </a:solidFill>
          <a:ln w="12700">
            <a:solidFill>
              <a:srgbClr val="FFD166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91072" y="822960"/>
            <a:ext cx="64008" cy="1920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5664" y="960120"/>
            <a:ext cx="411480" cy="411480"/>
          </a:xfrm>
          <a:prstGeom prst="ellipse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987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Watch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55664" y="146304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readmission rate — monitor Cardiology &amp; Neurology closely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2926080"/>
            <a:ext cx="2834640" cy="1920240"/>
          </a:xfrm>
          <a:prstGeom prst="rect">
            <a:avLst/>
          </a:prstGeom>
          <a:solidFill>
            <a:srgbClr val="0A1929"/>
          </a:solidFill>
          <a:ln w="12700">
            <a:solidFill>
              <a:srgbClr val="FF6B6B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82880" y="2926080"/>
            <a:ext cx="64008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3063240"/>
            <a:ext cx="411480" cy="41148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1248" y="3090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 #1 Diagnosis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7472" y="356616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 (45 cases) is the leading diagnosis — consider specialist expansion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46120" y="2926080"/>
            <a:ext cx="2834640" cy="1920240"/>
          </a:xfrm>
          <a:prstGeom prst="rect">
            <a:avLst/>
          </a:prstGeom>
          <a:solidFill>
            <a:srgbClr val="0A1929"/>
          </a:solidFill>
          <a:ln w="12700">
            <a:solidFill>
              <a:srgbClr val="C77D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2926080"/>
            <a:ext cx="64008" cy="1920240"/>
          </a:xfrm>
          <a:prstGeom prst="rect">
            <a:avLst/>
          </a:prstGeom>
          <a:solidFill>
            <a:srgbClr val="C77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10712" y="3063240"/>
            <a:ext cx="411480" cy="411480"/>
          </a:xfrm>
          <a:prstGeom prst="ellipse">
            <a:avLst/>
          </a:prstGeom>
          <a:solidFill>
            <a:srgbClr val="C77D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10712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904488" y="3090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10712" y="356616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patients have the highest avg cost ($11K). Teen lowest at $9K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91072" y="2926080"/>
            <a:ext cx="2834640" cy="192024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3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91072" y="2926080"/>
            <a:ext cx="64008" cy="1920240"/>
          </a:xfrm>
          <a:prstGeom prst="rect">
            <a:avLst/>
          </a:prstGeom>
          <a:solidFill>
            <a:srgbClr val="00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55664" y="3063240"/>
            <a:ext cx="411480" cy="411480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49440" y="3090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Improving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55664" y="356616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 mortality rate with downward trend — clinical protocols effective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3810">
            <a:solidFill>
              <a:srgbClr val="00C8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-274320"/>
            <a:ext cx="3657600" cy="3657600"/>
          </a:xfrm>
          <a:prstGeom prst="ellipse">
            <a:avLst/>
          </a:prstGeom>
          <a:solidFill>
            <a:srgbClr val="00C8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1792"/>
            <a:ext cx="9144000" cy="27432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" y="777240"/>
            <a:ext cx="502920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FFD166">
                <a:alpha val="2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960120"/>
            <a:ext cx="4754880" cy="777240"/>
          </a:xfrm>
          <a:prstGeom prst="rect">
            <a:avLst/>
          </a:prstGeom>
          <a:solidFill>
            <a:srgbClr val="0D2040"/>
          </a:solidFill>
          <a:ln w="635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960120"/>
            <a:ext cx="54864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1005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99669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Orthopedics Capacity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13441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patient load (48). Add 2 specialist beds and 1 surgeon.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1856232"/>
            <a:ext cx="4754880" cy="777240"/>
          </a:xfrm>
          <a:prstGeom prst="rect">
            <a:avLst/>
          </a:prstGeom>
          <a:solidFill>
            <a:srgbClr val="0D2040"/>
          </a:solidFill>
          <a:ln w="6350">
            <a:solidFill>
              <a:srgbClr val="FFD166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1856232"/>
            <a:ext cx="54864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19019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18928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Readmission Protocol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22402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readmission risk. Implement 30-day post-discharge follow-up.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752344"/>
            <a:ext cx="4754880" cy="777240"/>
          </a:xfrm>
          <a:prstGeom prst="rect">
            <a:avLst/>
          </a:prstGeom>
          <a:solidFill>
            <a:srgbClr val="0D2040"/>
          </a:solidFill>
          <a:ln w="6350">
            <a:solidFill>
              <a:srgbClr val="00FF88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752344"/>
            <a:ext cx="54864" cy="777240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7980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27889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 Management Program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31363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dedicated arthritis clinic — 45 cases represent significant volume.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648456"/>
            <a:ext cx="4754880" cy="777240"/>
          </a:xfrm>
          <a:prstGeom prst="rect">
            <a:avLst/>
          </a:prstGeom>
          <a:solidFill>
            <a:srgbClr val="0D2040"/>
          </a:solidFill>
          <a:ln w="6350">
            <a:solidFill>
              <a:srgbClr val="FF6B6B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648456"/>
            <a:ext cx="54864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694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" y="36850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 for Adults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403250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avg cost is $11K. Review treatment pathways for efficiency.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40680" y="777240"/>
            <a:ext cx="3520440" cy="41605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>
                <a:alpha val="25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77840" y="886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1280160"/>
            <a:ext cx="3200400" cy="502920"/>
          </a:xfrm>
          <a:prstGeom prst="rect">
            <a:avLst/>
          </a:prstGeom>
          <a:solidFill>
            <a:srgbClr val="0D2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52360" y="13350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577840" y="1874520"/>
            <a:ext cx="3200400" cy="502920"/>
          </a:xfrm>
          <a:prstGeom prst="rect">
            <a:avLst/>
          </a:prstGeom>
          <a:solidFill>
            <a:srgbClr val="0D20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52360" y="1929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577840" y="2468880"/>
            <a:ext cx="3200400" cy="502920"/>
          </a:xfrm>
          <a:prstGeom prst="rect">
            <a:avLst/>
          </a:prstGeom>
          <a:solidFill>
            <a:srgbClr val="0D2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2542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Length of Stay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52360" y="2523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8.07d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577840" y="3063240"/>
            <a:ext cx="3200400" cy="502920"/>
          </a:xfrm>
          <a:prstGeom prst="rect">
            <a:avLst/>
          </a:prstGeom>
          <a:solidFill>
            <a:srgbClr val="0D20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3136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52360" y="31181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3.50%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577840" y="3657600"/>
            <a:ext cx="3200400" cy="502920"/>
          </a:xfrm>
          <a:prstGeom prst="rect">
            <a:avLst/>
          </a:prstGeom>
          <a:solidFill>
            <a:srgbClr val="0D2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52360" y="37124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13.00%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577840" y="4251960"/>
            <a:ext cx="3200400" cy="502920"/>
          </a:xfrm>
          <a:prstGeom prst="rect">
            <a:avLst/>
          </a:prstGeom>
          <a:solidFill>
            <a:srgbClr val="0D20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4325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52360" y="43068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63.5%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333</Words>
  <Application>Microsoft Office PowerPoint</Application>
  <PresentationFormat>On-screen Show (16:9)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Analytics Dashboard</dc:title>
  <dc:subject>PptxGenJS Presentation</dc:subject>
  <dc:creator>Hospital Analytics Team</dc:creator>
  <cp:lastModifiedBy>Tejas Chavan</cp:lastModifiedBy>
  <cp:revision>3</cp:revision>
  <dcterms:created xsi:type="dcterms:W3CDTF">2026-03-26T10:54:03Z</dcterms:created>
  <dcterms:modified xsi:type="dcterms:W3CDTF">2026-03-26T11:10:20Z</dcterms:modified>
</cp:coreProperties>
</file>